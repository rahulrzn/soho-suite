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1_FB0025BC.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AB4299D-A45F-F1FA-3403-95498A0305FD}" name="Rahul Reji" initials="RR" userId="6086acb2f5bfcdec"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8/10/relationships/authors" Targe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omments/modernComment_101_FB0025BC.xml><?xml version="1.0" encoding="utf-8"?>
<p188:cmLst xmlns:a="http://schemas.openxmlformats.org/drawingml/2006/main" xmlns:r="http://schemas.openxmlformats.org/officeDocument/2006/relationships" xmlns:p188="http://schemas.microsoft.com/office/powerpoint/2018/8/main">
  <p188:cm id="{636B731A-9992-4E8A-8646-9AE5D3B175AA}" authorId="{5AB4299D-A45F-F1FA-3403-95498A0305FD}" created="2026-09-29T09:11:31.069">
    <pc:sldMkLst xmlns:pc="http://schemas.microsoft.com/office/powerpoint/2013/main/command">
      <pc:docMk/>
      <pc:sldMk cId="4211090876" sldId="257"/>
    </pc:sldMkLst>
    <p188:txBody>
      <a:bodyPr/>
      <a:lstStyle/>
      <a:p>
        <a:r>
          <a:rPr lang="en-IN"/>
          <a:t>What is the problem/problem im trying to solve
Who are the users
What is the outcome/proposed solution for this problem</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2093B-55B1-E428-0D99-6FA2C5116C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24CF3A2-BEB2-8CDE-002A-427D960519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EDC3B88-31C5-02D3-07CB-E50E95A0BCBE}"/>
              </a:ext>
            </a:extLst>
          </p:cNvPr>
          <p:cNvSpPr>
            <a:spLocks noGrp="1"/>
          </p:cNvSpPr>
          <p:nvPr>
            <p:ph type="dt" sz="half" idx="10"/>
          </p:nvPr>
        </p:nvSpPr>
        <p:spPr/>
        <p:txBody>
          <a:bodyPr/>
          <a:lstStyle/>
          <a:p>
            <a:fld id="{EC0E8AD7-DEDD-4461-BD12-ADA041D35934}" type="datetimeFigureOut">
              <a:rPr lang="en-IN" smtClean="0"/>
              <a:t>29-09-2026</a:t>
            </a:fld>
            <a:endParaRPr lang="en-IN"/>
          </a:p>
        </p:txBody>
      </p:sp>
      <p:sp>
        <p:nvSpPr>
          <p:cNvPr id="5" name="Footer Placeholder 4">
            <a:extLst>
              <a:ext uri="{FF2B5EF4-FFF2-40B4-BE49-F238E27FC236}">
                <a16:creationId xmlns:a16="http://schemas.microsoft.com/office/drawing/2014/main" id="{4D9F38C2-528C-99FA-3CBA-8EF02108FB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71C99F-32E8-1CD1-2936-1F9BA6B6628A}"/>
              </a:ext>
            </a:extLst>
          </p:cNvPr>
          <p:cNvSpPr>
            <a:spLocks noGrp="1"/>
          </p:cNvSpPr>
          <p:nvPr>
            <p:ph type="sldNum" sz="quarter" idx="12"/>
          </p:nvPr>
        </p:nvSpPr>
        <p:spPr/>
        <p:txBody>
          <a:bodyPr/>
          <a:lstStyle/>
          <a:p>
            <a:fld id="{60B0D4C3-5CFD-4A2B-A005-6D60FC1AA793}" type="slidenum">
              <a:rPr lang="en-IN" smtClean="0"/>
              <a:t>‹#›</a:t>
            </a:fld>
            <a:endParaRPr lang="en-IN"/>
          </a:p>
        </p:txBody>
      </p:sp>
    </p:spTree>
    <p:extLst>
      <p:ext uri="{BB962C8B-B14F-4D97-AF65-F5344CB8AC3E}">
        <p14:creationId xmlns:p14="http://schemas.microsoft.com/office/powerpoint/2010/main" val="394504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1F7EC-FB0E-C6F8-3122-BD3A14EE2EA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A8DB54D-920E-A78F-098E-5F1507FD3C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5BEAE5-A9B9-80E4-531F-58ED644A9884}"/>
              </a:ext>
            </a:extLst>
          </p:cNvPr>
          <p:cNvSpPr>
            <a:spLocks noGrp="1"/>
          </p:cNvSpPr>
          <p:nvPr>
            <p:ph type="dt" sz="half" idx="10"/>
          </p:nvPr>
        </p:nvSpPr>
        <p:spPr/>
        <p:txBody>
          <a:bodyPr/>
          <a:lstStyle/>
          <a:p>
            <a:fld id="{EC0E8AD7-DEDD-4461-BD12-ADA041D35934}" type="datetimeFigureOut">
              <a:rPr lang="en-IN" smtClean="0"/>
              <a:t>29-09-2026</a:t>
            </a:fld>
            <a:endParaRPr lang="en-IN"/>
          </a:p>
        </p:txBody>
      </p:sp>
      <p:sp>
        <p:nvSpPr>
          <p:cNvPr id="5" name="Footer Placeholder 4">
            <a:extLst>
              <a:ext uri="{FF2B5EF4-FFF2-40B4-BE49-F238E27FC236}">
                <a16:creationId xmlns:a16="http://schemas.microsoft.com/office/drawing/2014/main" id="{75C4D7B6-F99E-0995-B365-BF13DD8EF1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CB2E6B-E419-9708-2CB7-3DE1FB6AF636}"/>
              </a:ext>
            </a:extLst>
          </p:cNvPr>
          <p:cNvSpPr>
            <a:spLocks noGrp="1"/>
          </p:cNvSpPr>
          <p:nvPr>
            <p:ph type="sldNum" sz="quarter" idx="12"/>
          </p:nvPr>
        </p:nvSpPr>
        <p:spPr/>
        <p:txBody>
          <a:bodyPr/>
          <a:lstStyle/>
          <a:p>
            <a:fld id="{60B0D4C3-5CFD-4A2B-A005-6D60FC1AA793}" type="slidenum">
              <a:rPr lang="en-IN" smtClean="0"/>
              <a:t>‹#›</a:t>
            </a:fld>
            <a:endParaRPr lang="en-IN"/>
          </a:p>
        </p:txBody>
      </p:sp>
    </p:spTree>
    <p:extLst>
      <p:ext uri="{BB962C8B-B14F-4D97-AF65-F5344CB8AC3E}">
        <p14:creationId xmlns:p14="http://schemas.microsoft.com/office/powerpoint/2010/main" val="2004007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BEC62-4580-352E-42D7-0ADDBD7CEA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F95E067-17DC-C049-F458-DC1F88663A6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1D0714-19CA-6DE4-01F4-5D4D57C87EDE}"/>
              </a:ext>
            </a:extLst>
          </p:cNvPr>
          <p:cNvSpPr>
            <a:spLocks noGrp="1"/>
          </p:cNvSpPr>
          <p:nvPr>
            <p:ph type="dt" sz="half" idx="10"/>
          </p:nvPr>
        </p:nvSpPr>
        <p:spPr/>
        <p:txBody>
          <a:bodyPr/>
          <a:lstStyle/>
          <a:p>
            <a:fld id="{EC0E8AD7-DEDD-4461-BD12-ADA041D35934}" type="datetimeFigureOut">
              <a:rPr lang="en-IN" smtClean="0"/>
              <a:t>29-09-2026</a:t>
            </a:fld>
            <a:endParaRPr lang="en-IN"/>
          </a:p>
        </p:txBody>
      </p:sp>
      <p:sp>
        <p:nvSpPr>
          <p:cNvPr id="5" name="Footer Placeholder 4">
            <a:extLst>
              <a:ext uri="{FF2B5EF4-FFF2-40B4-BE49-F238E27FC236}">
                <a16:creationId xmlns:a16="http://schemas.microsoft.com/office/drawing/2014/main" id="{902A6627-FA8E-D763-E667-FE772A9C5D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24C894-AC93-2626-9B08-A5EE3E2329A9}"/>
              </a:ext>
            </a:extLst>
          </p:cNvPr>
          <p:cNvSpPr>
            <a:spLocks noGrp="1"/>
          </p:cNvSpPr>
          <p:nvPr>
            <p:ph type="sldNum" sz="quarter" idx="12"/>
          </p:nvPr>
        </p:nvSpPr>
        <p:spPr/>
        <p:txBody>
          <a:bodyPr/>
          <a:lstStyle/>
          <a:p>
            <a:fld id="{60B0D4C3-5CFD-4A2B-A005-6D60FC1AA793}" type="slidenum">
              <a:rPr lang="en-IN" smtClean="0"/>
              <a:t>‹#›</a:t>
            </a:fld>
            <a:endParaRPr lang="en-IN"/>
          </a:p>
        </p:txBody>
      </p:sp>
    </p:spTree>
    <p:extLst>
      <p:ext uri="{BB962C8B-B14F-4D97-AF65-F5344CB8AC3E}">
        <p14:creationId xmlns:p14="http://schemas.microsoft.com/office/powerpoint/2010/main" val="518937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027DE-7A9C-BAF8-D0CD-0A81718047A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DE88C0C-2F7F-349A-60A0-A6FC57259F6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FD584E5-790C-6474-71CF-554FDE788C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5EAA743-1937-1E2D-74BD-B972B0550074}"/>
              </a:ext>
            </a:extLst>
          </p:cNvPr>
          <p:cNvSpPr>
            <a:spLocks noGrp="1"/>
          </p:cNvSpPr>
          <p:nvPr>
            <p:ph type="dt" sz="half" idx="10"/>
          </p:nvPr>
        </p:nvSpPr>
        <p:spPr/>
        <p:txBody>
          <a:bodyPr/>
          <a:lstStyle/>
          <a:p>
            <a:fld id="{EC0E8AD7-DEDD-4461-BD12-ADA041D35934}" type="datetimeFigureOut">
              <a:rPr lang="en-IN" smtClean="0"/>
              <a:t>29-09-2026</a:t>
            </a:fld>
            <a:endParaRPr lang="en-IN"/>
          </a:p>
        </p:txBody>
      </p:sp>
      <p:sp>
        <p:nvSpPr>
          <p:cNvPr id="6" name="Footer Placeholder 5">
            <a:extLst>
              <a:ext uri="{FF2B5EF4-FFF2-40B4-BE49-F238E27FC236}">
                <a16:creationId xmlns:a16="http://schemas.microsoft.com/office/drawing/2014/main" id="{594F1F5B-4560-DD04-69A2-FC2FE6768B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BF8E467-344C-8878-B6D7-592BD11A24BE}"/>
              </a:ext>
            </a:extLst>
          </p:cNvPr>
          <p:cNvSpPr>
            <a:spLocks noGrp="1"/>
          </p:cNvSpPr>
          <p:nvPr>
            <p:ph type="sldNum" sz="quarter" idx="12"/>
          </p:nvPr>
        </p:nvSpPr>
        <p:spPr/>
        <p:txBody>
          <a:bodyPr/>
          <a:lstStyle/>
          <a:p>
            <a:fld id="{60B0D4C3-5CFD-4A2B-A005-6D60FC1AA793}" type="slidenum">
              <a:rPr lang="en-IN" smtClean="0"/>
              <a:t>‹#›</a:t>
            </a:fld>
            <a:endParaRPr lang="en-IN"/>
          </a:p>
        </p:txBody>
      </p:sp>
    </p:spTree>
    <p:extLst>
      <p:ext uri="{BB962C8B-B14F-4D97-AF65-F5344CB8AC3E}">
        <p14:creationId xmlns:p14="http://schemas.microsoft.com/office/powerpoint/2010/main" val="13000155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549E0-19A7-69D3-6E2C-E203C4D7E97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55D893C-B7B5-744C-EA71-ADCC1064B7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EAF19E-A3D9-E882-15F3-E1F29E8DF5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605052E-8C94-1444-D0D3-A24D95FE3F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0C8486-08F0-1F91-4F13-B577E6481F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5F3B396-D597-3C00-4DEC-94085909F6C2}"/>
              </a:ext>
            </a:extLst>
          </p:cNvPr>
          <p:cNvSpPr>
            <a:spLocks noGrp="1"/>
          </p:cNvSpPr>
          <p:nvPr>
            <p:ph type="dt" sz="half" idx="10"/>
          </p:nvPr>
        </p:nvSpPr>
        <p:spPr/>
        <p:txBody>
          <a:bodyPr/>
          <a:lstStyle/>
          <a:p>
            <a:fld id="{EC0E8AD7-DEDD-4461-BD12-ADA041D35934}" type="datetimeFigureOut">
              <a:rPr lang="en-IN" smtClean="0"/>
              <a:t>29-09-2026</a:t>
            </a:fld>
            <a:endParaRPr lang="en-IN"/>
          </a:p>
        </p:txBody>
      </p:sp>
      <p:sp>
        <p:nvSpPr>
          <p:cNvPr id="8" name="Footer Placeholder 7">
            <a:extLst>
              <a:ext uri="{FF2B5EF4-FFF2-40B4-BE49-F238E27FC236}">
                <a16:creationId xmlns:a16="http://schemas.microsoft.com/office/drawing/2014/main" id="{B6080850-9E34-C7B3-6F94-CC9A7F8336B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2F83D96-34B8-3E70-5E4D-D7F3D04C4036}"/>
              </a:ext>
            </a:extLst>
          </p:cNvPr>
          <p:cNvSpPr>
            <a:spLocks noGrp="1"/>
          </p:cNvSpPr>
          <p:nvPr>
            <p:ph type="sldNum" sz="quarter" idx="12"/>
          </p:nvPr>
        </p:nvSpPr>
        <p:spPr/>
        <p:txBody>
          <a:bodyPr/>
          <a:lstStyle/>
          <a:p>
            <a:fld id="{60B0D4C3-5CFD-4A2B-A005-6D60FC1AA793}" type="slidenum">
              <a:rPr lang="en-IN" smtClean="0"/>
              <a:t>‹#›</a:t>
            </a:fld>
            <a:endParaRPr lang="en-IN"/>
          </a:p>
        </p:txBody>
      </p:sp>
    </p:spTree>
    <p:extLst>
      <p:ext uri="{BB962C8B-B14F-4D97-AF65-F5344CB8AC3E}">
        <p14:creationId xmlns:p14="http://schemas.microsoft.com/office/powerpoint/2010/main" val="2887840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705A2-8DDC-ED53-7198-89CF97636CF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97BE8E3-EEC4-8F63-A378-675C9FA99539}"/>
              </a:ext>
            </a:extLst>
          </p:cNvPr>
          <p:cNvSpPr>
            <a:spLocks noGrp="1"/>
          </p:cNvSpPr>
          <p:nvPr>
            <p:ph type="dt" sz="half" idx="10"/>
          </p:nvPr>
        </p:nvSpPr>
        <p:spPr/>
        <p:txBody>
          <a:bodyPr/>
          <a:lstStyle/>
          <a:p>
            <a:fld id="{EC0E8AD7-DEDD-4461-BD12-ADA041D35934}" type="datetimeFigureOut">
              <a:rPr lang="en-IN" smtClean="0"/>
              <a:t>29-09-2026</a:t>
            </a:fld>
            <a:endParaRPr lang="en-IN"/>
          </a:p>
        </p:txBody>
      </p:sp>
      <p:sp>
        <p:nvSpPr>
          <p:cNvPr id="4" name="Footer Placeholder 3">
            <a:extLst>
              <a:ext uri="{FF2B5EF4-FFF2-40B4-BE49-F238E27FC236}">
                <a16:creationId xmlns:a16="http://schemas.microsoft.com/office/drawing/2014/main" id="{02447933-40EE-30F9-1520-BE97849D163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C5C9180-6E52-9014-B823-88B213703107}"/>
              </a:ext>
            </a:extLst>
          </p:cNvPr>
          <p:cNvSpPr>
            <a:spLocks noGrp="1"/>
          </p:cNvSpPr>
          <p:nvPr>
            <p:ph type="sldNum" sz="quarter" idx="12"/>
          </p:nvPr>
        </p:nvSpPr>
        <p:spPr/>
        <p:txBody>
          <a:bodyPr/>
          <a:lstStyle/>
          <a:p>
            <a:fld id="{60B0D4C3-5CFD-4A2B-A005-6D60FC1AA793}" type="slidenum">
              <a:rPr lang="en-IN" smtClean="0"/>
              <a:t>‹#›</a:t>
            </a:fld>
            <a:endParaRPr lang="en-IN"/>
          </a:p>
        </p:txBody>
      </p:sp>
    </p:spTree>
    <p:extLst>
      <p:ext uri="{BB962C8B-B14F-4D97-AF65-F5344CB8AC3E}">
        <p14:creationId xmlns:p14="http://schemas.microsoft.com/office/powerpoint/2010/main" val="1141599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EE30E5-1CCF-62B9-C2AB-66730C89F33E}"/>
              </a:ext>
            </a:extLst>
          </p:cNvPr>
          <p:cNvSpPr>
            <a:spLocks noGrp="1"/>
          </p:cNvSpPr>
          <p:nvPr>
            <p:ph type="dt" sz="half" idx="10"/>
          </p:nvPr>
        </p:nvSpPr>
        <p:spPr/>
        <p:txBody>
          <a:bodyPr/>
          <a:lstStyle/>
          <a:p>
            <a:fld id="{EC0E8AD7-DEDD-4461-BD12-ADA041D35934}" type="datetimeFigureOut">
              <a:rPr lang="en-IN" smtClean="0"/>
              <a:t>29-09-2026</a:t>
            </a:fld>
            <a:endParaRPr lang="en-IN"/>
          </a:p>
        </p:txBody>
      </p:sp>
      <p:sp>
        <p:nvSpPr>
          <p:cNvPr id="3" name="Footer Placeholder 2">
            <a:extLst>
              <a:ext uri="{FF2B5EF4-FFF2-40B4-BE49-F238E27FC236}">
                <a16:creationId xmlns:a16="http://schemas.microsoft.com/office/drawing/2014/main" id="{4A91C833-E67A-C9DF-CF59-7164357371E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3182878-BD32-7751-3A11-96D52301C4B8}"/>
              </a:ext>
            </a:extLst>
          </p:cNvPr>
          <p:cNvSpPr>
            <a:spLocks noGrp="1"/>
          </p:cNvSpPr>
          <p:nvPr>
            <p:ph type="sldNum" sz="quarter" idx="12"/>
          </p:nvPr>
        </p:nvSpPr>
        <p:spPr/>
        <p:txBody>
          <a:bodyPr/>
          <a:lstStyle/>
          <a:p>
            <a:fld id="{60B0D4C3-5CFD-4A2B-A005-6D60FC1AA793}" type="slidenum">
              <a:rPr lang="en-IN" smtClean="0"/>
              <a:t>‹#›</a:t>
            </a:fld>
            <a:endParaRPr lang="en-IN"/>
          </a:p>
        </p:txBody>
      </p:sp>
    </p:spTree>
    <p:extLst>
      <p:ext uri="{BB962C8B-B14F-4D97-AF65-F5344CB8AC3E}">
        <p14:creationId xmlns:p14="http://schemas.microsoft.com/office/powerpoint/2010/main" val="28241387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88E8C-AD57-FD27-F0FF-C2B34DAA24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E44FA2C-E762-38FD-5D6B-DE7B7A7F94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17EDCB6-A703-C3BA-A0CE-0FA477B4BD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20DF23-DDC7-AAB4-73A1-BB3B2CBD8ABD}"/>
              </a:ext>
            </a:extLst>
          </p:cNvPr>
          <p:cNvSpPr>
            <a:spLocks noGrp="1"/>
          </p:cNvSpPr>
          <p:nvPr>
            <p:ph type="dt" sz="half" idx="10"/>
          </p:nvPr>
        </p:nvSpPr>
        <p:spPr/>
        <p:txBody>
          <a:bodyPr/>
          <a:lstStyle/>
          <a:p>
            <a:fld id="{EC0E8AD7-DEDD-4461-BD12-ADA041D35934}" type="datetimeFigureOut">
              <a:rPr lang="en-IN" smtClean="0"/>
              <a:t>29-09-2026</a:t>
            </a:fld>
            <a:endParaRPr lang="en-IN"/>
          </a:p>
        </p:txBody>
      </p:sp>
      <p:sp>
        <p:nvSpPr>
          <p:cNvPr id="6" name="Footer Placeholder 5">
            <a:extLst>
              <a:ext uri="{FF2B5EF4-FFF2-40B4-BE49-F238E27FC236}">
                <a16:creationId xmlns:a16="http://schemas.microsoft.com/office/drawing/2014/main" id="{C9192C87-06F2-5368-4FB6-B6308162D4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2B7C64D-D97A-66E7-4358-DD04F84E6B78}"/>
              </a:ext>
            </a:extLst>
          </p:cNvPr>
          <p:cNvSpPr>
            <a:spLocks noGrp="1"/>
          </p:cNvSpPr>
          <p:nvPr>
            <p:ph type="sldNum" sz="quarter" idx="12"/>
          </p:nvPr>
        </p:nvSpPr>
        <p:spPr/>
        <p:txBody>
          <a:bodyPr/>
          <a:lstStyle/>
          <a:p>
            <a:fld id="{60B0D4C3-5CFD-4A2B-A005-6D60FC1AA793}" type="slidenum">
              <a:rPr lang="en-IN" smtClean="0"/>
              <a:t>‹#›</a:t>
            </a:fld>
            <a:endParaRPr lang="en-IN"/>
          </a:p>
        </p:txBody>
      </p:sp>
    </p:spTree>
    <p:extLst>
      <p:ext uri="{BB962C8B-B14F-4D97-AF65-F5344CB8AC3E}">
        <p14:creationId xmlns:p14="http://schemas.microsoft.com/office/powerpoint/2010/main" val="3976088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17A4B-1E08-515B-A2CC-4280958017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ACF8565-DD92-B917-C632-70DD59AD79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EA46C53-0B18-ADED-173A-8CDE3DC469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7B008F-1B40-36F9-A52E-D93F33DB9279}"/>
              </a:ext>
            </a:extLst>
          </p:cNvPr>
          <p:cNvSpPr>
            <a:spLocks noGrp="1"/>
          </p:cNvSpPr>
          <p:nvPr>
            <p:ph type="dt" sz="half" idx="10"/>
          </p:nvPr>
        </p:nvSpPr>
        <p:spPr/>
        <p:txBody>
          <a:bodyPr/>
          <a:lstStyle/>
          <a:p>
            <a:fld id="{EC0E8AD7-DEDD-4461-BD12-ADA041D35934}" type="datetimeFigureOut">
              <a:rPr lang="en-IN" smtClean="0"/>
              <a:t>29-09-2026</a:t>
            </a:fld>
            <a:endParaRPr lang="en-IN"/>
          </a:p>
        </p:txBody>
      </p:sp>
      <p:sp>
        <p:nvSpPr>
          <p:cNvPr id="6" name="Footer Placeholder 5">
            <a:extLst>
              <a:ext uri="{FF2B5EF4-FFF2-40B4-BE49-F238E27FC236}">
                <a16:creationId xmlns:a16="http://schemas.microsoft.com/office/drawing/2014/main" id="{2CEAA852-359A-9388-65B2-9BB64D606E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BAA943E-A840-CAB2-C13A-E6766DDCA68B}"/>
              </a:ext>
            </a:extLst>
          </p:cNvPr>
          <p:cNvSpPr>
            <a:spLocks noGrp="1"/>
          </p:cNvSpPr>
          <p:nvPr>
            <p:ph type="sldNum" sz="quarter" idx="12"/>
          </p:nvPr>
        </p:nvSpPr>
        <p:spPr/>
        <p:txBody>
          <a:bodyPr/>
          <a:lstStyle/>
          <a:p>
            <a:fld id="{60B0D4C3-5CFD-4A2B-A005-6D60FC1AA793}" type="slidenum">
              <a:rPr lang="en-IN" smtClean="0"/>
              <a:t>‹#›</a:t>
            </a:fld>
            <a:endParaRPr lang="en-IN"/>
          </a:p>
        </p:txBody>
      </p:sp>
    </p:spTree>
    <p:extLst>
      <p:ext uri="{BB962C8B-B14F-4D97-AF65-F5344CB8AC3E}">
        <p14:creationId xmlns:p14="http://schemas.microsoft.com/office/powerpoint/2010/main" val="1577972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C044E-490C-76BC-DF81-013357E9F3C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3C194E7-9F25-F300-73EB-5C17B632B4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EE5A31-49D0-F348-C493-54F38B125C97}"/>
              </a:ext>
            </a:extLst>
          </p:cNvPr>
          <p:cNvSpPr>
            <a:spLocks noGrp="1"/>
          </p:cNvSpPr>
          <p:nvPr>
            <p:ph type="dt" sz="half" idx="10"/>
          </p:nvPr>
        </p:nvSpPr>
        <p:spPr/>
        <p:txBody>
          <a:bodyPr/>
          <a:lstStyle/>
          <a:p>
            <a:fld id="{EC0E8AD7-DEDD-4461-BD12-ADA041D35934}" type="datetimeFigureOut">
              <a:rPr lang="en-IN" smtClean="0"/>
              <a:t>29-09-2026</a:t>
            </a:fld>
            <a:endParaRPr lang="en-IN"/>
          </a:p>
        </p:txBody>
      </p:sp>
      <p:sp>
        <p:nvSpPr>
          <p:cNvPr id="5" name="Footer Placeholder 4">
            <a:extLst>
              <a:ext uri="{FF2B5EF4-FFF2-40B4-BE49-F238E27FC236}">
                <a16:creationId xmlns:a16="http://schemas.microsoft.com/office/drawing/2014/main" id="{85726408-A288-9854-351F-8B2C14EBC5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64BD3A-643D-4BE1-0D06-C08D8E1247A5}"/>
              </a:ext>
            </a:extLst>
          </p:cNvPr>
          <p:cNvSpPr>
            <a:spLocks noGrp="1"/>
          </p:cNvSpPr>
          <p:nvPr>
            <p:ph type="sldNum" sz="quarter" idx="12"/>
          </p:nvPr>
        </p:nvSpPr>
        <p:spPr/>
        <p:txBody>
          <a:bodyPr/>
          <a:lstStyle/>
          <a:p>
            <a:fld id="{60B0D4C3-5CFD-4A2B-A005-6D60FC1AA793}" type="slidenum">
              <a:rPr lang="en-IN" smtClean="0"/>
              <a:t>‹#›</a:t>
            </a:fld>
            <a:endParaRPr lang="en-IN"/>
          </a:p>
        </p:txBody>
      </p:sp>
    </p:spTree>
    <p:extLst>
      <p:ext uri="{BB962C8B-B14F-4D97-AF65-F5344CB8AC3E}">
        <p14:creationId xmlns:p14="http://schemas.microsoft.com/office/powerpoint/2010/main" val="2439676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68F834-187F-FE98-1827-E876BA85635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DCC0843-D964-E7A2-FE91-BF155EB61D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1C1A0F-FDB0-3ECC-EF97-0B927AACDF1B}"/>
              </a:ext>
            </a:extLst>
          </p:cNvPr>
          <p:cNvSpPr>
            <a:spLocks noGrp="1"/>
          </p:cNvSpPr>
          <p:nvPr>
            <p:ph type="dt" sz="half" idx="10"/>
          </p:nvPr>
        </p:nvSpPr>
        <p:spPr/>
        <p:txBody>
          <a:bodyPr/>
          <a:lstStyle/>
          <a:p>
            <a:fld id="{EC0E8AD7-DEDD-4461-BD12-ADA041D35934}" type="datetimeFigureOut">
              <a:rPr lang="en-IN" smtClean="0"/>
              <a:t>29-09-2026</a:t>
            </a:fld>
            <a:endParaRPr lang="en-IN"/>
          </a:p>
        </p:txBody>
      </p:sp>
      <p:sp>
        <p:nvSpPr>
          <p:cNvPr id="5" name="Footer Placeholder 4">
            <a:extLst>
              <a:ext uri="{FF2B5EF4-FFF2-40B4-BE49-F238E27FC236}">
                <a16:creationId xmlns:a16="http://schemas.microsoft.com/office/drawing/2014/main" id="{1755FD95-47F8-6999-D132-47E83D985B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93EEF4-30C5-4C6D-EA66-DC406F99F2AB}"/>
              </a:ext>
            </a:extLst>
          </p:cNvPr>
          <p:cNvSpPr>
            <a:spLocks noGrp="1"/>
          </p:cNvSpPr>
          <p:nvPr>
            <p:ph type="sldNum" sz="quarter" idx="12"/>
          </p:nvPr>
        </p:nvSpPr>
        <p:spPr/>
        <p:txBody>
          <a:bodyPr/>
          <a:lstStyle/>
          <a:p>
            <a:fld id="{60B0D4C3-5CFD-4A2B-A005-6D60FC1AA793}" type="slidenum">
              <a:rPr lang="en-IN" smtClean="0"/>
              <a:t>‹#›</a:t>
            </a:fld>
            <a:endParaRPr lang="en-IN"/>
          </a:p>
        </p:txBody>
      </p:sp>
    </p:spTree>
    <p:extLst>
      <p:ext uri="{BB962C8B-B14F-4D97-AF65-F5344CB8AC3E}">
        <p14:creationId xmlns:p14="http://schemas.microsoft.com/office/powerpoint/2010/main" val="1824815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44A599-EC6D-D5D1-E4E5-D9B7CE604F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B31719-143D-481E-022D-67BB74587D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3BAFBA-DFE5-C18D-484B-5DAF0F3381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0E8AD7-DEDD-4461-BD12-ADA041D35934}" type="datetimeFigureOut">
              <a:rPr lang="en-IN" smtClean="0"/>
              <a:t>29-09-2026</a:t>
            </a:fld>
            <a:endParaRPr lang="en-IN"/>
          </a:p>
        </p:txBody>
      </p:sp>
      <p:sp>
        <p:nvSpPr>
          <p:cNvPr id="5" name="Footer Placeholder 4">
            <a:extLst>
              <a:ext uri="{FF2B5EF4-FFF2-40B4-BE49-F238E27FC236}">
                <a16:creationId xmlns:a16="http://schemas.microsoft.com/office/drawing/2014/main" id="{D8EC53A4-1889-ADB4-1A96-873D5680E4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5DD6A01-0E25-D4BF-0BA2-571D464A45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B0D4C3-5CFD-4A2B-A005-6D60FC1AA793}" type="slidenum">
              <a:rPr lang="en-IN" smtClean="0"/>
              <a:t>‹#›</a:t>
            </a:fld>
            <a:endParaRPr lang="en-IN"/>
          </a:p>
        </p:txBody>
      </p:sp>
    </p:spTree>
    <p:extLst>
      <p:ext uri="{BB962C8B-B14F-4D97-AF65-F5344CB8AC3E}">
        <p14:creationId xmlns:p14="http://schemas.microsoft.com/office/powerpoint/2010/main" val="24584510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microsoft.com/office/2018/10/relationships/comments" Target="../comments/modernComment_101_FB0025BC.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F00907-D2C3-1D65-DA0C-6F00BCBEB8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2635221" y="-2635218"/>
            <a:ext cx="6941574" cy="12212009"/>
          </a:xfrm>
          <a:prstGeom prst="rect">
            <a:avLst/>
          </a:prstGeom>
        </p:spPr>
      </p:pic>
      <p:sp>
        <p:nvSpPr>
          <p:cNvPr id="2" name="Title 1">
            <a:extLst>
              <a:ext uri="{FF2B5EF4-FFF2-40B4-BE49-F238E27FC236}">
                <a16:creationId xmlns:a16="http://schemas.microsoft.com/office/drawing/2014/main" id="{6E70E3ED-8500-84FC-A128-5500E6F904CB}"/>
              </a:ext>
            </a:extLst>
          </p:cNvPr>
          <p:cNvSpPr>
            <a:spLocks noGrp="1"/>
          </p:cNvSpPr>
          <p:nvPr>
            <p:ph type="ctrTitle"/>
          </p:nvPr>
        </p:nvSpPr>
        <p:spPr>
          <a:xfrm>
            <a:off x="1140716" y="1214438"/>
            <a:ext cx="9930582" cy="2387600"/>
          </a:xfrm>
        </p:spPr>
        <p:txBody>
          <a:bodyPr>
            <a:normAutofit fontScale="90000"/>
          </a:bodyPr>
          <a:lstStyle/>
          <a:p>
            <a:r>
              <a:rPr lang="en-US" b="1" dirty="0">
                <a:solidFill>
                  <a:schemeClr val="bg1"/>
                </a:solidFill>
                <a:latin typeface="Times New Roman" panose="02020603050405020304" pitchFamily="18" charset="0"/>
                <a:cs typeface="Times New Roman" panose="02020603050405020304" pitchFamily="18" charset="0"/>
              </a:rPr>
              <a:t>Soho Suite</a:t>
            </a:r>
            <a:br>
              <a:rPr lang="en-US" b="1" dirty="0">
                <a:solidFill>
                  <a:schemeClr val="bg1"/>
                </a:solidFill>
                <a:latin typeface="Times New Roman" panose="02020603050405020304" pitchFamily="18" charset="0"/>
                <a:cs typeface="Times New Roman" panose="02020603050405020304" pitchFamily="18" charset="0"/>
              </a:rPr>
            </a:br>
            <a:r>
              <a:rPr lang="en-US" b="1" dirty="0">
                <a:solidFill>
                  <a:schemeClr val="bg1"/>
                </a:solidFill>
                <a:latin typeface="Times New Roman" panose="02020603050405020304" pitchFamily="18" charset="0"/>
                <a:cs typeface="Times New Roman" panose="02020603050405020304" pitchFamily="18" charset="0"/>
              </a:rPr>
              <a:t>Centralized Analytical Platform</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16363081-BDF9-F92E-578A-D27B45E4BB8F}"/>
              </a:ext>
            </a:extLst>
          </p:cNvPr>
          <p:cNvSpPr>
            <a:spLocks noGrp="1"/>
          </p:cNvSpPr>
          <p:nvPr>
            <p:ph type="subTitle" idx="1"/>
          </p:nvPr>
        </p:nvSpPr>
        <p:spPr/>
        <p:txBody>
          <a:bodyPr/>
          <a:lstStyle/>
          <a:p>
            <a:endParaRPr lang="en-US" b="1" dirty="0">
              <a:solidFill>
                <a:schemeClr val="bg1"/>
              </a:solidFill>
              <a:latin typeface="Times New Roman" panose="02020603050405020304" pitchFamily="18" charset="0"/>
              <a:cs typeface="Times New Roman" panose="02020603050405020304" pitchFamily="18" charset="0"/>
            </a:endParaRPr>
          </a:p>
          <a:p>
            <a:r>
              <a:rPr lang="en-IN" b="1" dirty="0">
                <a:solidFill>
                  <a:schemeClr val="bg1"/>
                </a:solidFill>
                <a:latin typeface="Times New Roman" panose="02020603050405020304" pitchFamily="18" charset="0"/>
                <a:cs typeface="Times New Roman" panose="02020603050405020304" pitchFamily="18" charset="0"/>
              </a:rPr>
              <a:t>By Rahul Reji</a:t>
            </a:r>
          </a:p>
        </p:txBody>
      </p:sp>
      <p:sp>
        <p:nvSpPr>
          <p:cNvPr id="6" name="TextBox 5">
            <a:extLst>
              <a:ext uri="{FF2B5EF4-FFF2-40B4-BE49-F238E27FC236}">
                <a16:creationId xmlns:a16="http://schemas.microsoft.com/office/drawing/2014/main" id="{091A092B-0ECA-4673-E36A-AEAFF97584D5}"/>
              </a:ext>
            </a:extLst>
          </p:cNvPr>
          <p:cNvSpPr txBox="1"/>
          <p:nvPr/>
        </p:nvSpPr>
        <p:spPr>
          <a:xfrm>
            <a:off x="9800176" y="6488668"/>
            <a:ext cx="2411837" cy="338554"/>
          </a:xfrm>
          <a:prstGeom prst="rect">
            <a:avLst/>
          </a:prstGeom>
          <a:noFill/>
        </p:spPr>
        <p:txBody>
          <a:bodyPr wrap="square" rtlCol="0">
            <a:spAutoFit/>
          </a:bodyPr>
          <a:lstStyle/>
          <a:p>
            <a:r>
              <a:rPr lang="en-US" sz="1600" dirty="0">
                <a:solidFill>
                  <a:schemeClr val="bg1"/>
                </a:solidFill>
                <a:latin typeface="Times New Roman" panose="02020603050405020304" pitchFamily="18" charset="0"/>
                <a:cs typeface="Times New Roman" panose="02020603050405020304" pitchFamily="18" charset="0"/>
              </a:rPr>
              <a:t>Small Office Home Office</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1D49885-6783-8070-FA33-143E44614AA4}"/>
              </a:ext>
            </a:extLst>
          </p:cNvPr>
          <p:cNvSpPr txBox="1"/>
          <p:nvPr/>
        </p:nvSpPr>
        <p:spPr>
          <a:xfrm>
            <a:off x="9513797" y="6447208"/>
            <a:ext cx="479007" cy="461665"/>
          </a:xfrm>
          <a:prstGeom prst="rect">
            <a:avLst/>
          </a:prstGeom>
          <a:noFill/>
        </p:spPr>
        <p:txBody>
          <a:bodyPr wrap="square" rtlCol="0">
            <a:spAutoFit/>
          </a:bodyPr>
          <a:lstStyle/>
          <a:p>
            <a:r>
              <a:rPr lang="en-IN" sz="2400" dirty="0">
                <a:solidFill>
                  <a:schemeClr val="bg1"/>
                </a:solidFill>
              </a:rPr>
              <a:t>©</a:t>
            </a:r>
          </a:p>
        </p:txBody>
      </p:sp>
    </p:spTree>
    <p:extLst>
      <p:ext uri="{BB962C8B-B14F-4D97-AF65-F5344CB8AC3E}">
        <p14:creationId xmlns:p14="http://schemas.microsoft.com/office/powerpoint/2010/main" val="2491962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010F668-8A16-DC7D-3C73-16A0FE1018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695E2E4-D6C3-B7D3-D022-544939E37607}"/>
              </a:ext>
            </a:extLst>
          </p:cNvPr>
          <p:cNvSpPr>
            <a:spLocks noGrp="1"/>
          </p:cNvSpPr>
          <p:nvPr>
            <p:ph type="title"/>
          </p:nvPr>
        </p:nvSpPr>
        <p:spPr>
          <a:xfrm>
            <a:off x="680884" y="335628"/>
            <a:ext cx="10515600" cy="1325563"/>
          </a:xfrm>
        </p:spPr>
        <p:txBody>
          <a:bodyPr/>
          <a:lstStyle/>
          <a:p>
            <a:pPr algn="ctr"/>
            <a:r>
              <a:rPr lang="en-US" b="1" dirty="0">
                <a:solidFill>
                  <a:schemeClr val="bg1"/>
                </a:solidFill>
                <a:latin typeface="Times New Roman" panose="02020603050405020304" pitchFamily="18" charset="0"/>
                <a:cs typeface="Times New Roman" panose="02020603050405020304" pitchFamily="18" charset="0"/>
              </a:rPr>
              <a:t>PROBLEM STATEMENT</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BE1C177-2DA7-8006-4567-25EEEEC694F0}"/>
              </a:ext>
            </a:extLst>
          </p:cNvPr>
          <p:cNvSpPr>
            <a:spLocks noGrp="1"/>
          </p:cNvSpPr>
          <p:nvPr>
            <p:ph idx="1"/>
          </p:nvPr>
        </p:nvSpPr>
        <p:spPr/>
        <p:txBody>
          <a:bodyPr>
            <a:normAutofit/>
          </a:bodyPr>
          <a:lstStyle/>
          <a:p>
            <a:pPr marL="0" indent="0" algn="just">
              <a:buNone/>
            </a:pP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Small Businesses use spreadsheets, notebooks, or physical paper to store the business data. This can cause stock mismatches, redundancy in data, and reorder problems. These data are disconnected, and this will lead to inefficiency in storing, retrieving, and analysing data. The existing platform requires heavy Fee and have a very steep learning curve. This project aims to provide a user friendly </a:t>
            </a:r>
            <a:r>
              <a:rPr lang="en-IN" b="1" dirty="0">
                <a:solidFill>
                  <a:schemeClr val="bg1"/>
                </a:solidFill>
                <a:latin typeface="Times New Roman" panose="02020603050405020304" pitchFamily="18" charset="0"/>
                <a:cs typeface="Times New Roman" panose="02020603050405020304" pitchFamily="18" charset="0"/>
              </a:rPr>
              <a:t>Centralized System</a:t>
            </a:r>
            <a:r>
              <a:rPr lang="en-IN" dirty="0">
                <a:solidFill>
                  <a:schemeClr val="bg1"/>
                </a:solidFill>
                <a:latin typeface="Times New Roman" panose="02020603050405020304" pitchFamily="18" charset="0"/>
                <a:cs typeface="Times New Roman" panose="02020603050405020304" pitchFamily="18" charset="0"/>
              </a:rPr>
              <a:t> for managing data and analysing data efficiently.</a:t>
            </a:r>
          </a:p>
        </p:txBody>
      </p:sp>
    </p:spTree>
    <p:extLst>
      <p:ext uri="{BB962C8B-B14F-4D97-AF65-F5344CB8AC3E}">
        <p14:creationId xmlns:p14="http://schemas.microsoft.com/office/powerpoint/2010/main" val="4211090876"/>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511D013-3381-4AEA-0A21-46F1046B9B21}"/>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A58AC78-B233-8611-D2FF-30D947A10BB2}"/>
              </a:ext>
            </a:extLst>
          </p:cNvPr>
          <p:cNvSpPr>
            <a:spLocks noGrp="1"/>
          </p:cNvSpPr>
          <p:nvPr>
            <p:ph type="title"/>
          </p:nvPr>
        </p:nvSpPr>
        <p:spPr>
          <a:xfrm>
            <a:off x="591165" y="335629"/>
            <a:ext cx="11009670" cy="1325563"/>
          </a:xfrm>
        </p:spPr>
        <p:txBody>
          <a:bodyPr>
            <a:normAutofit/>
          </a:bodyPr>
          <a:lstStyle/>
          <a:p>
            <a:pPr algn="ctr"/>
            <a:r>
              <a:rPr lang="en-IN" sz="4000" b="1" dirty="0">
                <a:solidFill>
                  <a:schemeClr val="bg1"/>
                </a:solidFill>
                <a:latin typeface="Times New Roman" panose="02020603050405020304" pitchFamily="18" charset="0"/>
                <a:cs typeface="Times New Roman" panose="02020603050405020304" pitchFamily="18" charset="0"/>
              </a:rPr>
              <a:t>EXISTING SOLUTIONS AND TARGET USERS</a:t>
            </a:r>
          </a:p>
        </p:txBody>
      </p:sp>
      <p:pic>
        <p:nvPicPr>
          <p:cNvPr id="7" name="Picture 6">
            <a:extLst>
              <a:ext uri="{FF2B5EF4-FFF2-40B4-BE49-F238E27FC236}">
                <a16:creationId xmlns:a16="http://schemas.microsoft.com/office/drawing/2014/main" id="{A79DDC22-5EA2-2B4E-50DA-0772137155DE}"/>
              </a:ext>
            </a:extLst>
          </p:cNvPr>
          <p:cNvPicPr>
            <a:picLocks noChangeAspect="1"/>
          </p:cNvPicPr>
          <p:nvPr/>
        </p:nvPicPr>
        <p:blipFill>
          <a:blip r:embed="rId3"/>
          <a:stretch>
            <a:fillRect/>
          </a:stretch>
        </p:blipFill>
        <p:spPr>
          <a:xfrm>
            <a:off x="1871073" y="5446711"/>
            <a:ext cx="8449854" cy="743054"/>
          </a:xfrm>
          <a:prstGeom prst="rect">
            <a:avLst/>
          </a:prstGeom>
        </p:spPr>
      </p:pic>
      <p:sp>
        <p:nvSpPr>
          <p:cNvPr id="8" name="TextBox 7">
            <a:extLst>
              <a:ext uri="{FF2B5EF4-FFF2-40B4-BE49-F238E27FC236}">
                <a16:creationId xmlns:a16="http://schemas.microsoft.com/office/drawing/2014/main" id="{77713406-437D-0C01-F9A0-8E6E4CC2AD6C}"/>
              </a:ext>
            </a:extLst>
          </p:cNvPr>
          <p:cNvSpPr txBox="1"/>
          <p:nvPr/>
        </p:nvSpPr>
        <p:spPr>
          <a:xfrm>
            <a:off x="1871073" y="4982808"/>
            <a:ext cx="2831691"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Source: Reddit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9" name="Oval 8">
            <a:extLst>
              <a:ext uri="{FF2B5EF4-FFF2-40B4-BE49-F238E27FC236}">
                <a16:creationId xmlns:a16="http://schemas.microsoft.com/office/drawing/2014/main" id="{34E192C3-AF39-A457-E4FA-F40CC831FF27}"/>
              </a:ext>
            </a:extLst>
          </p:cNvPr>
          <p:cNvSpPr/>
          <p:nvPr/>
        </p:nvSpPr>
        <p:spPr>
          <a:xfrm>
            <a:off x="7717092" y="1599691"/>
            <a:ext cx="3639165" cy="338311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Oval 11">
            <a:extLst>
              <a:ext uri="{FF2B5EF4-FFF2-40B4-BE49-F238E27FC236}">
                <a16:creationId xmlns:a16="http://schemas.microsoft.com/office/drawing/2014/main" id="{3E70223A-3CCC-B3AA-4A10-B4C2E5FC3BC9}"/>
              </a:ext>
            </a:extLst>
          </p:cNvPr>
          <p:cNvSpPr/>
          <p:nvPr/>
        </p:nvSpPr>
        <p:spPr>
          <a:xfrm>
            <a:off x="8218536" y="2408356"/>
            <a:ext cx="2636276" cy="2621738"/>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 name="Oval 13">
            <a:extLst>
              <a:ext uri="{FF2B5EF4-FFF2-40B4-BE49-F238E27FC236}">
                <a16:creationId xmlns:a16="http://schemas.microsoft.com/office/drawing/2014/main" id="{18503D68-FB4C-C52A-90AC-E5A5769364A0}"/>
              </a:ext>
            </a:extLst>
          </p:cNvPr>
          <p:cNvSpPr/>
          <p:nvPr/>
        </p:nvSpPr>
        <p:spPr>
          <a:xfrm>
            <a:off x="8603530" y="3274884"/>
            <a:ext cx="1866288" cy="1757827"/>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48B37AF7-031C-5E60-C260-DE1435957C4C}"/>
              </a:ext>
            </a:extLst>
          </p:cNvPr>
          <p:cNvSpPr txBox="1"/>
          <p:nvPr/>
        </p:nvSpPr>
        <p:spPr>
          <a:xfrm>
            <a:off x="8760542" y="1897626"/>
            <a:ext cx="1560385" cy="369332"/>
          </a:xfrm>
          <a:prstGeom prst="rect">
            <a:avLst/>
          </a:prstGeom>
          <a:noFill/>
        </p:spPr>
        <p:txBody>
          <a:bodyPr wrap="square" rtlCol="0">
            <a:spAutoFit/>
          </a:bodyPr>
          <a:lstStyle/>
          <a:p>
            <a:pPr algn="ctr"/>
            <a:r>
              <a:rPr lang="en-US" b="1" dirty="0">
                <a:solidFill>
                  <a:schemeClr val="bg1"/>
                </a:solidFill>
                <a:latin typeface="Times New Roman" panose="02020603050405020304" pitchFamily="18" charset="0"/>
                <a:cs typeface="Times New Roman" panose="02020603050405020304" pitchFamily="18" charset="0"/>
              </a:rPr>
              <a:t>SAP / Oracle</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07D6D26B-CA5B-342F-331A-F1F5D54A9362}"/>
              </a:ext>
            </a:extLst>
          </p:cNvPr>
          <p:cNvSpPr txBox="1"/>
          <p:nvPr/>
        </p:nvSpPr>
        <p:spPr>
          <a:xfrm>
            <a:off x="8974697" y="2531364"/>
            <a:ext cx="1221355"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Microsoft Dynamics</a:t>
            </a:r>
            <a:endParaRPr lang="en-IN"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A10C2841-FFDD-3808-463A-9EBD6DC61709}"/>
              </a:ext>
            </a:extLst>
          </p:cNvPr>
          <p:cNvSpPr txBox="1"/>
          <p:nvPr/>
        </p:nvSpPr>
        <p:spPr>
          <a:xfrm>
            <a:off x="9108971" y="3496971"/>
            <a:ext cx="914400"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Odoo</a:t>
            </a:r>
            <a:endParaRPr lang="en-IN" b="1"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5F82CC20-5D7E-E08F-FD51-73031217E550}"/>
              </a:ext>
            </a:extLst>
          </p:cNvPr>
          <p:cNvSpPr txBox="1"/>
          <p:nvPr/>
        </p:nvSpPr>
        <p:spPr>
          <a:xfrm>
            <a:off x="591165" y="1661192"/>
            <a:ext cx="6742472" cy="1754326"/>
          </a:xfrm>
          <a:prstGeom prst="rect">
            <a:avLst/>
          </a:prstGeom>
          <a:noFill/>
        </p:spPr>
        <p:txBody>
          <a:bodyPr wrap="square" rtlCol="0">
            <a:spAutoFit/>
          </a:bodyPr>
          <a:lstStyle/>
          <a:p>
            <a:pPr marL="285750" indent="-285750">
              <a:buClr>
                <a:schemeClr val="bg1"/>
              </a:buClr>
              <a:buSzPct val="1250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Exist</a:t>
            </a:r>
            <a:r>
              <a:rPr lang="en-IN" dirty="0" err="1">
                <a:solidFill>
                  <a:schemeClr val="bg1"/>
                </a:solidFill>
                <a:latin typeface="Times New Roman" panose="02020603050405020304" pitchFamily="18" charset="0"/>
                <a:cs typeface="Times New Roman" panose="02020603050405020304" pitchFamily="18" charset="0"/>
              </a:rPr>
              <a:t>ing</a:t>
            </a:r>
            <a:r>
              <a:rPr lang="en-IN" dirty="0">
                <a:solidFill>
                  <a:schemeClr val="bg1"/>
                </a:solidFill>
                <a:latin typeface="Times New Roman" panose="02020603050405020304" pitchFamily="18" charset="0"/>
                <a:cs typeface="Times New Roman" panose="02020603050405020304" pitchFamily="18" charset="0"/>
              </a:rPr>
              <a:t> small scale </a:t>
            </a:r>
            <a:r>
              <a:rPr lang="en-IN" dirty="0" err="1">
                <a:solidFill>
                  <a:schemeClr val="bg1"/>
                </a:solidFill>
                <a:latin typeface="Times New Roman" panose="02020603050405020304" pitchFamily="18" charset="0"/>
                <a:cs typeface="Times New Roman" panose="02020603050405020304" pitchFamily="18" charset="0"/>
              </a:rPr>
              <a:t>erp</a:t>
            </a:r>
            <a:r>
              <a:rPr lang="en-IN" dirty="0">
                <a:solidFill>
                  <a:schemeClr val="bg1"/>
                </a:solidFill>
                <a:latin typeface="Times New Roman" panose="02020603050405020304" pitchFamily="18" charset="0"/>
                <a:cs typeface="Times New Roman" panose="02020603050405020304" pitchFamily="18" charset="0"/>
              </a:rPr>
              <a:t> lacks in functionalities and how they operate.</a:t>
            </a:r>
          </a:p>
          <a:p>
            <a:pPr marL="285750" indent="-285750">
              <a:buClr>
                <a:schemeClr val="bg1"/>
              </a:buClr>
              <a:buSzPct val="12500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High Cost for small computation.</a:t>
            </a:r>
          </a:p>
          <a:p>
            <a:pPr marL="285750" indent="-285750">
              <a:buClr>
                <a:schemeClr val="bg1"/>
              </a:buClr>
              <a:buSzPct val="12500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Difficulty in learning curve.</a:t>
            </a:r>
          </a:p>
          <a:p>
            <a:pPr marL="285750" indent="-285750">
              <a:buClr>
                <a:schemeClr val="bg1"/>
              </a:buClr>
              <a:buSzPct val="1250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Basic metrics needed for running a business are not available.</a:t>
            </a:r>
          </a:p>
          <a:p>
            <a:pPr marL="285750" indent="-285750">
              <a:buClr>
                <a:schemeClr val="bg1"/>
              </a:buClr>
              <a:buSzPct val="1250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Market based functionalities are unavailable.</a:t>
            </a:r>
          </a:p>
        </p:txBody>
      </p:sp>
      <p:sp>
        <p:nvSpPr>
          <p:cNvPr id="24" name="Oval 23">
            <a:extLst>
              <a:ext uri="{FF2B5EF4-FFF2-40B4-BE49-F238E27FC236}">
                <a16:creationId xmlns:a16="http://schemas.microsoft.com/office/drawing/2014/main" id="{1157BED1-89E8-CA57-D3D0-564F783F7E16}"/>
              </a:ext>
            </a:extLst>
          </p:cNvPr>
          <p:cNvSpPr/>
          <p:nvPr/>
        </p:nvSpPr>
        <p:spPr>
          <a:xfrm>
            <a:off x="8925996" y="3914292"/>
            <a:ext cx="1221356" cy="1115802"/>
          </a:xfrm>
          <a:prstGeom prst="ellipse">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1">
                  <a:lumMod val="50000"/>
                </a:schemeClr>
              </a:solidFill>
            </a:endParaRPr>
          </a:p>
        </p:txBody>
      </p:sp>
      <p:sp>
        <p:nvSpPr>
          <p:cNvPr id="25" name="TextBox 24">
            <a:extLst>
              <a:ext uri="{FF2B5EF4-FFF2-40B4-BE49-F238E27FC236}">
                <a16:creationId xmlns:a16="http://schemas.microsoft.com/office/drawing/2014/main" id="{26F321A1-CF31-BE1C-1F95-D5719DDF0A58}"/>
              </a:ext>
            </a:extLst>
          </p:cNvPr>
          <p:cNvSpPr txBox="1"/>
          <p:nvPr/>
        </p:nvSpPr>
        <p:spPr>
          <a:xfrm>
            <a:off x="8984990" y="4298151"/>
            <a:ext cx="1335937" cy="369332"/>
          </a:xfrm>
          <a:prstGeom prst="rect">
            <a:avLst/>
          </a:prstGeom>
          <a:noFill/>
        </p:spPr>
        <p:txBody>
          <a:bodyPr wrap="square" rtlCol="0">
            <a:spAutoFit/>
          </a:bodyPr>
          <a:lstStyle/>
          <a:p>
            <a:r>
              <a:rPr lang="en-US" dirty="0">
                <a:solidFill>
                  <a:schemeClr val="bg1"/>
                </a:solidFill>
              </a:rPr>
              <a:t>Soho Suite</a:t>
            </a:r>
            <a:endParaRPr lang="en-IN" dirty="0">
              <a:solidFill>
                <a:schemeClr val="bg1"/>
              </a:solidFill>
            </a:endParaRPr>
          </a:p>
        </p:txBody>
      </p:sp>
    </p:spTree>
    <p:extLst>
      <p:ext uri="{BB962C8B-B14F-4D97-AF65-F5344CB8AC3E}">
        <p14:creationId xmlns:p14="http://schemas.microsoft.com/office/powerpoint/2010/main" val="5901419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970F7376-F612-53E8-9356-27DD668D72C9}"/>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35AE42B-769B-85F7-B546-112514EB80C2}"/>
              </a:ext>
            </a:extLst>
          </p:cNvPr>
          <p:cNvSpPr>
            <a:spLocks noGrp="1"/>
          </p:cNvSpPr>
          <p:nvPr>
            <p:ph type="title"/>
          </p:nvPr>
        </p:nvSpPr>
        <p:spPr>
          <a:xfrm>
            <a:off x="759542" y="0"/>
            <a:ext cx="10515600" cy="1325563"/>
          </a:xfrm>
        </p:spPr>
        <p:txBody>
          <a:bodyPr/>
          <a:lstStyle/>
          <a:p>
            <a:pPr algn="ctr"/>
            <a:r>
              <a:rPr lang="en-US" b="1" dirty="0">
                <a:solidFill>
                  <a:schemeClr val="bg1"/>
                </a:solidFill>
                <a:latin typeface="Times New Roman" panose="02020603050405020304" pitchFamily="18" charset="0"/>
                <a:cs typeface="Times New Roman" panose="02020603050405020304" pitchFamily="18" charset="0"/>
              </a:rPr>
              <a:t>Requirements Gathering</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F9C9AE2-35E5-D949-E6D1-EFE6EBFA355C}"/>
              </a:ext>
            </a:extLst>
          </p:cNvPr>
          <p:cNvSpPr>
            <a:spLocks noGrp="1"/>
          </p:cNvSpPr>
          <p:nvPr>
            <p:ph idx="1"/>
          </p:nvPr>
        </p:nvSpPr>
        <p:spPr>
          <a:xfrm>
            <a:off x="656156" y="1266404"/>
            <a:ext cx="5279922" cy="601265"/>
          </a:xfrm>
        </p:spPr>
        <p:txBody>
          <a:bodyPr>
            <a:normAutofit/>
          </a:bodyPr>
          <a:lstStyle/>
          <a:p>
            <a:pPr marL="0" indent="0" algn="ctr">
              <a:buNone/>
            </a:pPr>
            <a:r>
              <a:rPr lang="en-US" sz="3200" b="1" dirty="0">
                <a:solidFill>
                  <a:schemeClr val="bg1"/>
                </a:solidFill>
                <a:latin typeface="Times New Roman" panose="02020603050405020304" pitchFamily="18" charset="0"/>
                <a:cs typeface="Times New Roman" panose="02020603050405020304" pitchFamily="18" charset="0"/>
              </a:rPr>
              <a:t>Functional Requirements</a:t>
            </a:r>
          </a:p>
        </p:txBody>
      </p:sp>
      <p:sp>
        <p:nvSpPr>
          <p:cNvPr id="6" name="TextBox 5">
            <a:extLst>
              <a:ext uri="{FF2B5EF4-FFF2-40B4-BE49-F238E27FC236}">
                <a16:creationId xmlns:a16="http://schemas.microsoft.com/office/drawing/2014/main" id="{EFB37DDE-52D1-2A4F-CD77-B848D7206A3E}"/>
              </a:ext>
            </a:extLst>
          </p:cNvPr>
          <p:cNvSpPr txBox="1"/>
          <p:nvPr/>
        </p:nvSpPr>
        <p:spPr>
          <a:xfrm>
            <a:off x="7371959" y="1264492"/>
            <a:ext cx="4984955" cy="523220"/>
          </a:xfrm>
          <a:prstGeom prst="rect">
            <a:avLst/>
          </a:prstGeom>
          <a:noFill/>
        </p:spPr>
        <p:txBody>
          <a:bodyPr wrap="square">
            <a:spAutoFit/>
          </a:bodyPr>
          <a:lstStyle/>
          <a:p>
            <a:r>
              <a:rPr lang="en-US" sz="2800" b="1" dirty="0">
                <a:solidFill>
                  <a:schemeClr val="bg1"/>
                </a:solidFill>
                <a:latin typeface="Times New Roman" panose="02020603050405020304" pitchFamily="18" charset="0"/>
                <a:cs typeface="Times New Roman" panose="02020603050405020304" pitchFamily="18" charset="0"/>
              </a:rPr>
              <a:t>Non-Functional Requirements</a:t>
            </a:r>
            <a:endParaRPr lang="en-IN" sz="2800" b="1" dirty="0">
              <a:solidFill>
                <a:schemeClr val="bg1"/>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79220862-3E89-68FD-1F5E-6F5A8C22586C}"/>
              </a:ext>
            </a:extLst>
          </p:cNvPr>
          <p:cNvPicPr>
            <a:picLocks noChangeAspect="1"/>
          </p:cNvPicPr>
          <p:nvPr/>
        </p:nvPicPr>
        <p:blipFill>
          <a:blip r:embed="rId3">
            <a:extLst>
              <a:ext uri="{28A0092B-C50C-407E-A947-70E740481C1C}">
                <a14:useLocalDpi xmlns:a14="http://schemas.microsoft.com/office/drawing/2010/main" val="0"/>
              </a:ext>
            </a:extLst>
          </a:blip>
          <a:srcRect l="31471" r="31471"/>
          <a:stretch>
            <a:fillRect/>
          </a:stretch>
        </p:blipFill>
        <p:spPr>
          <a:xfrm>
            <a:off x="5518352" y="3633817"/>
            <a:ext cx="1155298" cy="789440"/>
          </a:xfrm>
          <a:prstGeom prst="rect">
            <a:avLst/>
          </a:prstGeom>
        </p:spPr>
      </p:pic>
      <p:pic>
        <p:nvPicPr>
          <p:cNvPr id="10" name="Picture 9">
            <a:extLst>
              <a:ext uri="{FF2B5EF4-FFF2-40B4-BE49-F238E27FC236}">
                <a16:creationId xmlns:a16="http://schemas.microsoft.com/office/drawing/2014/main" id="{F25A3CF8-7B0F-CDB3-6954-53809688D208}"/>
              </a:ext>
            </a:extLst>
          </p:cNvPr>
          <p:cNvPicPr>
            <a:picLocks noChangeAspect="1"/>
          </p:cNvPicPr>
          <p:nvPr/>
        </p:nvPicPr>
        <p:blipFill>
          <a:blip r:embed="rId3">
            <a:extLst>
              <a:ext uri="{28A0092B-C50C-407E-A947-70E740481C1C}">
                <a14:useLocalDpi xmlns:a14="http://schemas.microsoft.com/office/drawing/2010/main" val="0"/>
              </a:ext>
            </a:extLst>
          </a:blip>
          <a:srcRect l="65157"/>
          <a:stretch>
            <a:fillRect/>
          </a:stretch>
        </p:blipFill>
        <p:spPr>
          <a:xfrm>
            <a:off x="6513428" y="1133003"/>
            <a:ext cx="1092270" cy="793825"/>
          </a:xfrm>
          <a:prstGeom prst="rect">
            <a:avLst/>
          </a:prstGeom>
        </p:spPr>
      </p:pic>
      <p:pic>
        <p:nvPicPr>
          <p:cNvPr id="12" name="Picture 11">
            <a:extLst>
              <a:ext uri="{FF2B5EF4-FFF2-40B4-BE49-F238E27FC236}">
                <a16:creationId xmlns:a16="http://schemas.microsoft.com/office/drawing/2014/main" id="{351583CB-696E-949F-641C-7E318098B202}"/>
              </a:ext>
            </a:extLst>
          </p:cNvPr>
          <p:cNvPicPr>
            <a:picLocks noChangeAspect="1"/>
          </p:cNvPicPr>
          <p:nvPr/>
        </p:nvPicPr>
        <p:blipFill>
          <a:blip r:embed="rId3">
            <a:extLst>
              <a:ext uri="{28A0092B-C50C-407E-A947-70E740481C1C}">
                <a14:useLocalDpi xmlns:a14="http://schemas.microsoft.com/office/drawing/2010/main" val="0"/>
              </a:ext>
            </a:extLst>
          </a:blip>
          <a:srcRect r="66849"/>
          <a:stretch>
            <a:fillRect/>
          </a:stretch>
        </p:blipFill>
        <p:spPr>
          <a:xfrm>
            <a:off x="60934" y="1207246"/>
            <a:ext cx="942032" cy="719582"/>
          </a:xfrm>
          <a:prstGeom prst="rect">
            <a:avLst/>
          </a:prstGeom>
        </p:spPr>
      </p:pic>
      <p:sp>
        <p:nvSpPr>
          <p:cNvPr id="13" name="TextBox 12">
            <a:extLst>
              <a:ext uri="{FF2B5EF4-FFF2-40B4-BE49-F238E27FC236}">
                <a16:creationId xmlns:a16="http://schemas.microsoft.com/office/drawing/2014/main" id="{094A5D47-6AB3-9729-3AFB-55AE9E081502}"/>
              </a:ext>
            </a:extLst>
          </p:cNvPr>
          <p:cNvSpPr txBox="1"/>
          <p:nvPr/>
        </p:nvSpPr>
        <p:spPr>
          <a:xfrm>
            <a:off x="323798" y="2284210"/>
            <a:ext cx="5612280" cy="4524315"/>
          </a:xfrm>
          <a:prstGeom prst="rect">
            <a:avLst/>
          </a:prstGeom>
          <a:noFill/>
        </p:spPr>
        <p:txBody>
          <a:bodyPr wrap="square" rtlCol="0">
            <a:spAutoFit/>
          </a:bodyPr>
          <a:lstStyle/>
          <a:p>
            <a:pPr marL="285750" lvl="0" indent="-285750">
              <a:buFont typeface="Arial" panose="020B0604020202020204" pitchFamily="34" charset="0"/>
              <a:buChar char="•"/>
            </a:pPr>
            <a:r>
              <a:rPr lang="en-IN" sz="1600" dirty="0">
                <a:solidFill>
                  <a:schemeClr val="bg1"/>
                </a:solidFill>
                <a:latin typeface="Times New Roman" panose="02020603050405020304" pitchFamily="18" charset="0"/>
                <a:cs typeface="Times New Roman" panose="02020603050405020304" pitchFamily="18" charset="0"/>
              </a:rPr>
              <a:t>User registration, login, logout, and role-based access.</a:t>
            </a:r>
          </a:p>
          <a:p>
            <a:pPr marL="285750" lvl="0" indent="-285750">
              <a:buFont typeface="Arial" panose="020B0604020202020204" pitchFamily="34" charset="0"/>
              <a:buChar char="•"/>
            </a:pPr>
            <a:r>
              <a:rPr lang="en-IN" sz="1600" dirty="0">
                <a:solidFill>
                  <a:schemeClr val="bg1"/>
                </a:solidFill>
                <a:latin typeface="Times New Roman" panose="02020603050405020304" pitchFamily="18" charset="0"/>
                <a:cs typeface="Times New Roman" panose="02020603050405020304" pitchFamily="18" charset="0"/>
              </a:rPr>
              <a:t>Create and manage a business workspace.</a:t>
            </a:r>
          </a:p>
          <a:p>
            <a:pPr marL="285750" lvl="0" indent="-285750">
              <a:buFont typeface="Arial" panose="020B0604020202020204" pitchFamily="34" charset="0"/>
              <a:buChar char="•"/>
            </a:pPr>
            <a:r>
              <a:rPr lang="en-IN" sz="1600" dirty="0">
                <a:solidFill>
                  <a:schemeClr val="bg1"/>
                </a:solidFill>
                <a:latin typeface="Times New Roman" panose="02020603050405020304" pitchFamily="18" charset="0"/>
                <a:cs typeface="Times New Roman" panose="02020603050405020304" pitchFamily="18" charset="0"/>
              </a:rPr>
              <a:t>Upload CSV and Excel business data.</a:t>
            </a:r>
          </a:p>
          <a:p>
            <a:pPr marL="285750" lvl="0" indent="-285750">
              <a:buFont typeface="Arial" panose="020B0604020202020204" pitchFamily="34" charset="0"/>
              <a:buChar char="•"/>
            </a:pPr>
            <a:r>
              <a:rPr lang="en-IN" sz="1600" dirty="0">
                <a:solidFill>
                  <a:schemeClr val="bg1"/>
                </a:solidFill>
                <a:latin typeface="Times New Roman" panose="02020603050405020304" pitchFamily="18" charset="0"/>
                <a:cs typeface="Times New Roman" panose="02020603050405020304" pitchFamily="18" charset="0"/>
              </a:rPr>
              <a:t>Preview imported data and detect column data types.</a:t>
            </a:r>
          </a:p>
          <a:p>
            <a:pPr marL="285750" lvl="0" indent="-285750">
              <a:buFont typeface="Arial" panose="020B0604020202020204" pitchFamily="34" charset="0"/>
              <a:buChar char="•"/>
            </a:pPr>
            <a:r>
              <a:rPr lang="en-IN" sz="1600" dirty="0">
                <a:solidFill>
                  <a:schemeClr val="bg1"/>
                </a:solidFill>
                <a:latin typeface="Times New Roman" panose="02020603050405020304" pitchFamily="18" charset="0"/>
                <a:cs typeface="Times New Roman" panose="02020603050405020304" pitchFamily="18" charset="0"/>
              </a:rPr>
              <a:t>Identify missing values, duplicates, and invalid records.</a:t>
            </a:r>
          </a:p>
          <a:p>
            <a:pPr marL="285750" lvl="0" indent="-285750">
              <a:buFont typeface="Arial" panose="020B0604020202020204" pitchFamily="34" charset="0"/>
              <a:buChar char="•"/>
            </a:pPr>
            <a:r>
              <a:rPr lang="en-IN" sz="1600" dirty="0">
                <a:solidFill>
                  <a:schemeClr val="bg1"/>
                </a:solidFill>
                <a:latin typeface="Times New Roman" panose="02020603050405020304" pitchFamily="18" charset="0"/>
                <a:cs typeface="Times New Roman" panose="02020603050405020304" pitchFamily="18" charset="0"/>
              </a:rPr>
              <a:t>Clean and standardize uploaded data.</a:t>
            </a:r>
          </a:p>
          <a:p>
            <a:pPr marL="285750" lvl="0" indent="-285750">
              <a:buFont typeface="Arial" panose="020B0604020202020204" pitchFamily="34" charset="0"/>
              <a:buChar char="•"/>
            </a:pPr>
            <a:r>
              <a:rPr lang="en-IN" sz="1600" dirty="0">
                <a:solidFill>
                  <a:schemeClr val="bg1"/>
                </a:solidFill>
                <a:latin typeface="Times New Roman" panose="02020603050405020304" pitchFamily="18" charset="0"/>
                <a:cs typeface="Times New Roman" panose="02020603050405020304" pitchFamily="18" charset="0"/>
              </a:rPr>
              <a:t>Define relationships between related datasets.</a:t>
            </a:r>
          </a:p>
          <a:p>
            <a:pPr marL="285750" lvl="0" indent="-285750">
              <a:buFont typeface="Arial" panose="020B0604020202020204" pitchFamily="34" charset="0"/>
              <a:buChar char="•"/>
            </a:pPr>
            <a:r>
              <a:rPr lang="en-IN" sz="1600" dirty="0">
                <a:solidFill>
                  <a:schemeClr val="bg1"/>
                </a:solidFill>
                <a:latin typeface="Times New Roman" panose="02020603050405020304" pitchFamily="18" charset="0"/>
                <a:cs typeface="Times New Roman" panose="02020603050405020304" pitchFamily="18" charset="0"/>
              </a:rPr>
              <a:t>Calculate core KPIs such as Revenue, Orders, Profit, Average Order Value, Customer Count, and Sales Growth.</a:t>
            </a:r>
          </a:p>
          <a:p>
            <a:pPr marL="285750" lvl="0" indent="-285750">
              <a:buFont typeface="Arial" panose="020B0604020202020204" pitchFamily="34" charset="0"/>
              <a:buChar char="•"/>
            </a:pPr>
            <a:r>
              <a:rPr lang="en-IN" sz="1600" dirty="0">
                <a:solidFill>
                  <a:schemeClr val="bg1"/>
                </a:solidFill>
                <a:latin typeface="Times New Roman" panose="02020603050405020304" pitchFamily="18" charset="0"/>
                <a:cs typeface="Times New Roman" panose="02020603050405020304" pitchFamily="18" charset="0"/>
              </a:rPr>
              <a:t>Display KPI cards, charts, and trend dashboards.</a:t>
            </a:r>
          </a:p>
          <a:p>
            <a:pPr marL="285750" lvl="0" indent="-285750">
              <a:buFont typeface="Arial" panose="020B0604020202020204" pitchFamily="34" charset="0"/>
              <a:buChar char="•"/>
            </a:pPr>
            <a:r>
              <a:rPr lang="en-IN" sz="1600" dirty="0">
                <a:solidFill>
                  <a:schemeClr val="bg1"/>
                </a:solidFill>
                <a:latin typeface="Times New Roman" panose="02020603050405020304" pitchFamily="18" charset="0"/>
                <a:cs typeface="Times New Roman" panose="02020603050405020304" pitchFamily="18" charset="0"/>
              </a:rPr>
              <a:t>Filter analytics by date, product, category, customer, and location.</a:t>
            </a:r>
          </a:p>
          <a:p>
            <a:pPr marL="285750" lvl="0" indent="-285750">
              <a:buFont typeface="Arial" panose="020B0604020202020204" pitchFamily="34" charset="0"/>
              <a:buChar char="•"/>
            </a:pPr>
            <a:r>
              <a:rPr lang="en-IN" sz="1600" dirty="0">
                <a:solidFill>
                  <a:schemeClr val="bg1"/>
                </a:solidFill>
                <a:latin typeface="Times New Roman" panose="02020603050405020304" pitchFamily="18" charset="0"/>
                <a:cs typeface="Times New Roman" panose="02020603050405020304" pitchFamily="18" charset="0"/>
              </a:rPr>
              <a:t>Drill down from summary KPIs to detailed records.</a:t>
            </a:r>
          </a:p>
          <a:p>
            <a:pPr marL="285750" lvl="0" indent="-285750">
              <a:buFont typeface="Arial" panose="020B0604020202020204" pitchFamily="34" charset="0"/>
              <a:buChar char="•"/>
            </a:pPr>
            <a:r>
              <a:rPr lang="en-IN" sz="1600" dirty="0">
                <a:solidFill>
                  <a:schemeClr val="bg1"/>
                </a:solidFill>
                <a:latin typeface="Times New Roman" panose="02020603050405020304" pitchFamily="18" charset="0"/>
                <a:cs typeface="Times New Roman" panose="02020603050405020304" pitchFamily="18" charset="0"/>
              </a:rPr>
              <a:t>Show data refresh status and last-updated time.</a:t>
            </a:r>
          </a:p>
          <a:p>
            <a:pPr marL="285750" lvl="0" indent="-285750">
              <a:buFont typeface="Arial" panose="020B0604020202020204" pitchFamily="34" charset="0"/>
              <a:buChar char="•"/>
            </a:pPr>
            <a:r>
              <a:rPr lang="en-IN" sz="1600" dirty="0">
                <a:solidFill>
                  <a:schemeClr val="bg1"/>
                </a:solidFill>
                <a:latin typeface="Times New Roman" panose="02020603050405020304" pitchFamily="18" charset="0"/>
                <a:cs typeface="Times New Roman" panose="02020603050405020304" pitchFamily="18" charset="0"/>
              </a:rPr>
              <a:t>Export reports/data as CSV, Excel, and PDF.</a:t>
            </a:r>
          </a:p>
          <a:p>
            <a:pPr marL="285750" lvl="0" indent="-285750">
              <a:buFont typeface="Arial" panose="020B0604020202020204" pitchFamily="34" charset="0"/>
              <a:buChar char="•"/>
            </a:pPr>
            <a:r>
              <a:rPr lang="en-IN" sz="1600" dirty="0">
                <a:solidFill>
                  <a:schemeClr val="bg1"/>
                </a:solidFill>
                <a:latin typeface="Times New Roman" panose="02020603050405020304" pitchFamily="18" charset="0"/>
                <a:cs typeface="Times New Roman" panose="02020603050405020304" pitchFamily="18" charset="0"/>
              </a:rPr>
              <a:t>Provide basic sales, customer, product, and financial analytics.</a:t>
            </a:r>
          </a:p>
          <a:p>
            <a:pPr marL="285750" lvl="0" indent="-285750">
              <a:buFont typeface="Arial" panose="020B0604020202020204" pitchFamily="34" charset="0"/>
              <a:buChar char="•"/>
            </a:pPr>
            <a:r>
              <a:rPr lang="en-IN" sz="1600" dirty="0">
                <a:solidFill>
                  <a:schemeClr val="bg1"/>
                </a:solidFill>
                <a:latin typeface="Times New Roman" panose="02020603050405020304" pitchFamily="18" charset="0"/>
                <a:cs typeface="Times New Roman" panose="02020603050405020304" pitchFamily="18" charset="0"/>
              </a:rPr>
              <a:t>Alerts System for data regulation</a:t>
            </a:r>
          </a:p>
          <a:p>
            <a:pPr marL="285750" indent="-285750">
              <a:buFont typeface="Arial" panose="020B0604020202020204" pitchFamily="34" charset="0"/>
              <a:buChar char="•"/>
            </a:pPr>
            <a:endParaRPr lang="en-IN" sz="1600" dirty="0"/>
          </a:p>
        </p:txBody>
      </p:sp>
      <p:sp>
        <p:nvSpPr>
          <p:cNvPr id="14" name="TextBox 13">
            <a:extLst>
              <a:ext uri="{FF2B5EF4-FFF2-40B4-BE49-F238E27FC236}">
                <a16:creationId xmlns:a16="http://schemas.microsoft.com/office/drawing/2014/main" id="{3C679129-B216-3201-82D2-866BE33C9775}"/>
              </a:ext>
            </a:extLst>
          </p:cNvPr>
          <p:cNvSpPr txBox="1"/>
          <p:nvPr/>
        </p:nvSpPr>
        <p:spPr>
          <a:xfrm>
            <a:off x="6513428" y="1938571"/>
            <a:ext cx="5612280" cy="4862870"/>
          </a:xfrm>
          <a:prstGeom prst="rect">
            <a:avLst/>
          </a:prstGeom>
          <a:noFill/>
        </p:spPr>
        <p:txBody>
          <a:bodyPr wrap="square" rtlCol="0">
            <a:spAutoFit/>
          </a:bodyPr>
          <a:lstStyle/>
          <a:p>
            <a:pPr marL="285750" lvl="0" indent="-285750">
              <a:buFont typeface="Arial" panose="020B0604020202020204" pitchFamily="34" charset="0"/>
              <a:buChar char="•"/>
            </a:pPr>
            <a:r>
              <a:rPr lang="en-IN" sz="1550" b="1" dirty="0">
                <a:solidFill>
                  <a:schemeClr val="bg1"/>
                </a:solidFill>
              </a:rPr>
              <a:t>Usability:</a:t>
            </a:r>
            <a:r>
              <a:rPr lang="en-IN" sz="1550" dirty="0">
                <a:solidFill>
                  <a:schemeClr val="bg1"/>
                </a:solidFill>
              </a:rPr>
              <a:t> Simple enough for non-technical small-business users; no SQL or programming required.</a:t>
            </a:r>
          </a:p>
          <a:p>
            <a:pPr marL="285750" lvl="0" indent="-285750">
              <a:buFont typeface="Arial" panose="020B0604020202020204" pitchFamily="34" charset="0"/>
              <a:buChar char="•"/>
            </a:pPr>
            <a:r>
              <a:rPr lang="en-IN" sz="1550" b="1" dirty="0">
                <a:solidFill>
                  <a:schemeClr val="bg1"/>
                </a:solidFill>
              </a:rPr>
              <a:t>Performance:</a:t>
            </a:r>
            <a:r>
              <a:rPr lang="en-IN" sz="1550" dirty="0">
                <a:solidFill>
                  <a:schemeClr val="bg1"/>
                </a:solidFill>
              </a:rPr>
              <a:t> Standard dashboards should load within about 3 seconds; filters within about 2 seconds.</a:t>
            </a:r>
          </a:p>
          <a:p>
            <a:pPr marL="285750" lvl="0" indent="-285750">
              <a:buFont typeface="Arial" panose="020B0604020202020204" pitchFamily="34" charset="0"/>
              <a:buChar char="•"/>
            </a:pPr>
            <a:r>
              <a:rPr lang="en-IN" sz="1550" b="1" dirty="0">
                <a:solidFill>
                  <a:schemeClr val="bg1"/>
                </a:solidFill>
              </a:rPr>
              <a:t>Security:</a:t>
            </a:r>
            <a:r>
              <a:rPr lang="en-IN" sz="1550" dirty="0">
                <a:solidFill>
                  <a:schemeClr val="bg1"/>
                </a:solidFill>
              </a:rPr>
              <a:t> Secure authentication, password hashing, authorization, and business-level data isolation.</a:t>
            </a:r>
          </a:p>
          <a:p>
            <a:pPr marL="285750" lvl="0" indent="-285750">
              <a:buFont typeface="Arial" panose="020B0604020202020204" pitchFamily="34" charset="0"/>
              <a:buChar char="•"/>
            </a:pPr>
            <a:r>
              <a:rPr lang="en-IN" sz="1550" b="1" dirty="0">
                <a:solidFill>
                  <a:schemeClr val="bg1"/>
                </a:solidFill>
              </a:rPr>
              <a:t>Reliability:</a:t>
            </a:r>
            <a:r>
              <a:rPr lang="en-IN" sz="1550" dirty="0">
                <a:solidFill>
                  <a:schemeClr val="bg1"/>
                </a:solidFill>
              </a:rPr>
              <a:t> Failed imports or processing must not corrupt valid data.</a:t>
            </a:r>
          </a:p>
          <a:p>
            <a:pPr marL="285750" lvl="0" indent="-285750">
              <a:buFont typeface="Arial" panose="020B0604020202020204" pitchFamily="34" charset="0"/>
              <a:buChar char="•"/>
            </a:pPr>
            <a:r>
              <a:rPr lang="en-IN" sz="1550" b="1" dirty="0">
                <a:solidFill>
                  <a:schemeClr val="bg1"/>
                </a:solidFill>
              </a:rPr>
              <a:t>Data Accuracy:</a:t>
            </a:r>
            <a:r>
              <a:rPr lang="en-IN" sz="1550" dirty="0">
                <a:solidFill>
                  <a:schemeClr val="bg1"/>
                </a:solidFill>
              </a:rPr>
              <a:t> KPI formulas and calculations must remain consistent and traceable to source data.</a:t>
            </a:r>
          </a:p>
          <a:p>
            <a:pPr marL="285750" lvl="0" indent="-285750">
              <a:buFont typeface="Arial" panose="020B0604020202020204" pitchFamily="34" charset="0"/>
              <a:buChar char="•"/>
            </a:pPr>
            <a:r>
              <a:rPr lang="en-IN" sz="1550" b="1" dirty="0">
                <a:solidFill>
                  <a:schemeClr val="bg1"/>
                </a:solidFill>
              </a:rPr>
              <a:t>Scalability:</a:t>
            </a:r>
            <a:r>
              <a:rPr lang="en-IN" sz="1550" dirty="0">
                <a:solidFill>
                  <a:schemeClr val="bg1"/>
                </a:solidFill>
              </a:rPr>
              <a:t> Architecture should support increasing users, businesses, and data volumes.</a:t>
            </a:r>
          </a:p>
          <a:p>
            <a:pPr marL="285750" lvl="0" indent="-285750">
              <a:buFont typeface="Arial" panose="020B0604020202020204" pitchFamily="34" charset="0"/>
              <a:buChar char="•"/>
            </a:pPr>
            <a:r>
              <a:rPr lang="en-IN" sz="1550" b="1" dirty="0">
                <a:solidFill>
                  <a:schemeClr val="bg1"/>
                </a:solidFill>
              </a:rPr>
              <a:t>Maintainability:</a:t>
            </a:r>
            <a:r>
              <a:rPr lang="en-IN" sz="1550" dirty="0">
                <a:solidFill>
                  <a:schemeClr val="bg1"/>
                </a:solidFill>
              </a:rPr>
              <a:t> Authentication, ingestion, analytics, reporting, and other modules should remain separated and testable.</a:t>
            </a:r>
          </a:p>
          <a:p>
            <a:pPr marL="285750" lvl="0" indent="-285750">
              <a:buFont typeface="Arial" panose="020B0604020202020204" pitchFamily="34" charset="0"/>
              <a:buChar char="•"/>
            </a:pPr>
            <a:r>
              <a:rPr lang="en-IN" sz="1550" b="1" dirty="0">
                <a:solidFill>
                  <a:schemeClr val="bg1"/>
                </a:solidFill>
              </a:rPr>
              <a:t>Affordability:</a:t>
            </a:r>
            <a:r>
              <a:rPr lang="en-IN" sz="1550" dirty="0">
                <a:solidFill>
                  <a:schemeClr val="bg1"/>
                </a:solidFill>
              </a:rPr>
              <a:t> Infrastructure should remain suitable for small-business usage and low-cost deployment.</a:t>
            </a:r>
          </a:p>
          <a:p>
            <a:pPr marL="285750" lvl="0" indent="-285750">
              <a:buFont typeface="Arial" panose="020B0604020202020204" pitchFamily="34" charset="0"/>
              <a:buChar char="•"/>
            </a:pPr>
            <a:r>
              <a:rPr lang="en-IN" sz="1550" b="1" dirty="0">
                <a:solidFill>
                  <a:schemeClr val="bg1"/>
                </a:solidFill>
              </a:rPr>
              <a:t>Compatibility:</a:t>
            </a:r>
            <a:r>
              <a:rPr lang="en-IN" sz="1550" dirty="0">
                <a:solidFill>
                  <a:schemeClr val="bg1"/>
                </a:solidFill>
              </a:rPr>
              <a:t> Support major desktop browsers with responsive dashboard layouts.</a:t>
            </a:r>
          </a:p>
          <a:p>
            <a:pPr marL="285750" lvl="0" indent="-285750">
              <a:buFont typeface="Arial" panose="020B0604020202020204" pitchFamily="34" charset="0"/>
              <a:buChar char="•"/>
            </a:pPr>
            <a:r>
              <a:rPr lang="en-IN" sz="1550" b="1" dirty="0">
                <a:solidFill>
                  <a:schemeClr val="bg1"/>
                </a:solidFill>
              </a:rPr>
              <a:t>Backup &amp; Recovery:</a:t>
            </a:r>
            <a:r>
              <a:rPr lang="en-IN" sz="1550" dirty="0">
                <a:solidFill>
                  <a:schemeClr val="bg1"/>
                </a:solidFill>
              </a:rPr>
              <a:t> Business data should be backed up and recoverable.</a:t>
            </a:r>
          </a:p>
        </p:txBody>
      </p:sp>
    </p:spTree>
    <p:extLst>
      <p:ext uri="{BB962C8B-B14F-4D97-AF65-F5344CB8AC3E}">
        <p14:creationId xmlns:p14="http://schemas.microsoft.com/office/powerpoint/2010/main" val="406191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001CF-122F-54E6-625A-E1F7BC05F5C1}"/>
              </a:ext>
            </a:extLst>
          </p:cNvPr>
          <p:cNvSpPr>
            <a:spLocks noGrp="1"/>
          </p:cNvSpPr>
          <p:nvPr>
            <p:ph type="title"/>
          </p:nvPr>
        </p:nvSpPr>
        <p:spPr/>
        <p:txBody>
          <a:bodyPr/>
          <a:lstStyle/>
          <a:p>
            <a:r>
              <a:rPr lang="en-US" dirty="0"/>
              <a:t>Project Scope and Feasibility Study</a:t>
            </a:r>
            <a:endParaRPr lang="en-IN" dirty="0"/>
          </a:p>
        </p:txBody>
      </p:sp>
      <p:sp>
        <p:nvSpPr>
          <p:cNvPr id="3" name="Content Placeholder 2">
            <a:extLst>
              <a:ext uri="{FF2B5EF4-FFF2-40B4-BE49-F238E27FC236}">
                <a16:creationId xmlns:a16="http://schemas.microsoft.com/office/drawing/2014/main" id="{D0A27365-723F-A9A7-A0C7-B0618C37492A}"/>
              </a:ext>
            </a:extLst>
          </p:cNvPr>
          <p:cNvSpPr>
            <a:spLocks noGrp="1"/>
          </p:cNvSpPr>
          <p:nvPr>
            <p:ph idx="1"/>
          </p:nvPr>
        </p:nvSpPr>
        <p:spPr/>
        <p:txBody>
          <a:bodyPr/>
          <a:lstStyle/>
          <a:p>
            <a:r>
              <a:rPr lang="en-US" dirty="0"/>
              <a:t>Build a reliable and free ERP system </a:t>
            </a:r>
            <a:endParaRPr lang="en-IN" dirty="0"/>
          </a:p>
        </p:txBody>
      </p:sp>
    </p:spTree>
    <p:extLst>
      <p:ext uri="{BB962C8B-B14F-4D97-AF65-F5344CB8AC3E}">
        <p14:creationId xmlns:p14="http://schemas.microsoft.com/office/powerpoint/2010/main" val="13836495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4">
            <a:extLst>
              <a:ext uri="{FF2B5EF4-FFF2-40B4-BE49-F238E27FC236}">
                <a16:creationId xmlns:a16="http://schemas.microsoft.com/office/drawing/2014/main" id="{4FA93D61-DDAF-F536-81B4-95893718373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a:fillRect/>
          </a:stretch>
        </p:blipFill>
        <p:spPr>
          <a:xfrm>
            <a:off x="152400" y="152400"/>
            <a:ext cx="12192000" cy="6858000"/>
          </a:xfrm>
          <a:prstGeom prst="rect">
            <a:avLst/>
          </a:prstGeom>
        </p:spPr>
      </p:pic>
      <p:pic>
        <p:nvPicPr>
          <p:cNvPr id="6" name="Content Placeholder 4">
            <a:extLst>
              <a:ext uri="{FF2B5EF4-FFF2-40B4-BE49-F238E27FC236}">
                <a16:creationId xmlns:a16="http://schemas.microsoft.com/office/drawing/2014/main" id="{DE602464-C7FD-BFF8-4F12-7CA20D856E74}"/>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B26220F-B3CA-F0D9-BD1E-C594FB00529E}"/>
              </a:ext>
            </a:extLst>
          </p:cNvPr>
          <p:cNvSpPr>
            <a:spLocks noGrp="1"/>
          </p:cNvSpPr>
          <p:nvPr>
            <p:ph type="title"/>
          </p:nvPr>
        </p:nvSpPr>
        <p:spPr>
          <a:xfrm>
            <a:off x="767080" y="-152400"/>
            <a:ext cx="10515600" cy="1325563"/>
          </a:xfrm>
        </p:spPr>
        <p:txBody>
          <a:bodyPr/>
          <a:lstStyle/>
          <a:p>
            <a:pPr algn="ctr"/>
            <a:r>
              <a:rPr lang="en-US" b="1" dirty="0">
                <a:solidFill>
                  <a:schemeClr val="bg1"/>
                </a:solidFill>
                <a:latin typeface="Times New Roman" panose="02020603050405020304" pitchFamily="18" charset="0"/>
                <a:cs typeface="Times New Roman" panose="02020603050405020304" pitchFamily="18" charset="0"/>
              </a:rPr>
              <a:t>System Architecture</a:t>
            </a:r>
            <a:endParaRPr lang="en-IN" b="1" dirty="0">
              <a:solidFill>
                <a:schemeClr val="bg1"/>
              </a:solidFill>
              <a:latin typeface="Times New Roman" panose="02020603050405020304" pitchFamily="18" charset="0"/>
              <a:cs typeface="Times New Roman" panose="02020603050405020304" pitchFamily="18" charset="0"/>
            </a:endParaRPr>
          </a:p>
        </p:txBody>
      </p:sp>
      <p:pic>
        <p:nvPicPr>
          <p:cNvPr id="12" name="Content Placeholder 11">
            <a:extLst>
              <a:ext uri="{FF2B5EF4-FFF2-40B4-BE49-F238E27FC236}">
                <a16:creationId xmlns:a16="http://schemas.microsoft.com/office/drawing/2014/main" id="{D4EDC939-54A3-547C-CE72-5BA54882DB9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34235" y="851847"/>
            <a:ext cx="9123529" cy="6082353"/>
          </a:xfrm>
          <a:prstGeom prst="rect">
            <a:avLst/>
          </a:prstGeom>
        </p:spPr>
      </p:pic>
    </p:spTree>
    <p:extLst>
      <p:ext uri="{BB962C8B-B14F-4D97-AF65-F5344CB8AC3E}">
        <p14:creationId xmlns:p14="http://schemas.microsoft.com/office/powerpoint/2010/main" val="3850054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1FDE9-D942-5F32-9640-26E60AF960D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58F6796-70BF-4693-A75A-D851F7FAED34}"/>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841045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526</TotalTime>
  <Words>469</Words>
  <Application>Microsoft Office PowerPoint</Application>
  <PresentationFormat>Widescreen</PresentationFormat>
  <Paragraphs>49</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Times New Roman</vt:lpstr>
      <vt:lpstr>Office Theme</vt:lpstr>
      <vt:lpstr>Soho Suite Centralized Analytical Platform</vt:lpstr>
      <vt:lpstr>PROBLEM STATEMENT</vt:lpstr>
      <vt:lpstr>EXISTING SOLUTIONS AND TARGET USERS</vt:lpstr>
      <vt:lpstr>Requirements Gathering</vt:lpstr>
      <vt:lpstr>Project Scope and Feasibility Study</vt:lpstr>
      <vt:lpstr>System Architecture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Rahul Reji</dc:creator>
  <cp:lastModifiedBy>Rahul Reji</cp:lastModifiedBy>
  <cp:revision>7</cp:revision>
  <dcterms:created xsi:type="dcterms:W3CDTF">2026-09-21T14:04:49Z</dcterms:created>
  <dcterms:modified xsi:type="dcterms:W3CDTF">2026-09-29T18:28:21Z</dcterms:modified>
</cp:coreProperties>
</file>